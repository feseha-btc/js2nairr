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335" r:id="rId5"/>
    <p:sldId id="336" r:id="rId6"/>
    <p:sldId id="348" r:id="rId7"/>
    <p:sldId id="339" r:id="rId8"/>
    <p:sldId id="349" r:id="rId9"/>
    <p:sldId id="361" r:id="rId10"/>
    <p:sldId id="350" r:id="rId11"/>
    <p:sldId id="362" r:id="rId12"/>
    <p:sldId id="351" r:id="rId13"/>
    <p:sldId id="352" r:id="rId14"/>
    <p:sldId id="363" r:id="rId15"/>
    <p:sldId id="364" r:id="rId16"/>
    <p:sldId id="365" r:id="rId17"/>
    <p:sldId id="366" r:id="rId18"/>
    <p:sldId id="367" r:id="rId19"/>
    <p:sldId id="353" r:id="rId20"/>
    <p:sldId id="354" r:id="rId21"/>
    <p:sldId id="355" r:id="rId22"/>
    <p:sldId id="356" r:id="rId23"/>
    <p:sldId id="359" r:id="rId24"/>
    <p:sldId id="360" r:id="rId25"/>
    <p:sldId id="370" r:id="rId26"/>
    <p:sldId id="340" r:id="rId27"/>
    <p:sldId id="369" r:id="rId28"/>
    <p:sldId id="357" r:id="rId29"/>
    <p:sldId id="368" r:id="rId30"/>
    <p:sldId id="345" r:id="rId31"/>
    <p:sldId id="343" r:id="rId32"/>
    <p:sldId id="34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7CD1C6-CFF1-43F8-BD47-F0CF94532DDB}" v="2" dt="2025-11-05T18:23:09.384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94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10/25/2025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10/25/2025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9245" y="189781"/>
            <a:ext cx="9351034" cy="241539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7030A0"/>
                </a:solidFill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assisted </a:t>
            </a:r>
            <a:r>
              <a:rPr lang="en-US" sz="3600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fuzzy</a:t>
            </a:r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primer Design: 	Leveraging GPUs and </a:t>
            </a:r>
            <a:r>
              <a:rPr lang="en-US" sz="36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PyTorch</a:t>
            </a:r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 	Fuzzy Sequence Matching.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238" y="0"/>
            <a:ext cx="8297380" cy="726172"/>
          </a:xfrm>
        </p:spPr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5FF774-8515-182E-5FC1-7583617AC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814692"/>
              </p:ext>
            </p:extLst>
          </p:nvPr>
        </p:nvGraphicFramePr>
        <p:xfrm>
          <a:off x="526211" y="726172"/>
          <a:ext cx="10668230" cy="5507863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0668230">
                  <a:extLst>
                    <a:ext uri="{9D8B030D-6E8A-4147-A177-3AD203B41FA5}">
                      <a16:colId xmlns:a16="http://schemas.microsoft.com/office/drawing/2014/main" val="3688417884"/>
                    </a:ext>
                  </a:extLst>
                </a:gridCol>
              </a:tblGrid>
              <a:tr h="105497">
                <a:tc>
                  <a:txBody>
                    <a:bodyPr/>
                    <a:lstStyle/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 dirty="0">
                          <a:effectLst/>
                        </a:rPr>
                        <a:t>The Oligo Screening Problem. 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 dirty="0">
                          <a:effectLst/>
                        </a:rPr>
                        <a:t> HPC Architecture &amp; Parallelization. 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 dirty="0">
                          <a:effectLst/>
                        </a:rPr>
                        <a:t> Deep Dive: Encoding Strategies (Decimal vs. One-Hot). 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 dirty="0">
                          <a:effectLst/>
                        </a:rPr>
                        <a:t> Real-World Vectorized Matching.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 dirty="0">
                          <a:effectLst/>
                        </a:rPr>
                        <a:t> Datasets and data processing.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 dirty="0">
                          <a:effectLst/>
                        </a:rPr>
                        <a:t> Results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 dirty="0">
                          <a:effectLst/>
                        </a:rPr>
                        <a:t> Discussion 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kern="100" dirty="0">
                          <a:effectLst/>
                        </a:rPr>
                        <a:t> Future Directions: Cancer Gene Signature Screening.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3200" dirty="0"/>
                        <a:t> Acknowledgements</a:t>
                      </a:r>
                      <a:endParaRPr lang="en-US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5007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287" y="0"/>
            <a:ext cx="9445925" cy="1930053"/>
          </a:xfrm>
        </p:spPr>
        <p:txBody>
          <a:bodyPr/>
          <a:lstStyle/>
          <a:p>
            <a:pPr marL="228600" marR="0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AutoNum type="arabicPeriod"/>
            </a:pPr>
            <a:r>
              <a:rPr lang="en-US" sz="4000" kern="100" dirty="0">
                <a:effectLst/>
              </a:rPr>
              <a:t>The Oligo Screening Problem.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/>
          <a:lstStyle/>
          <a:p>
            <a:r>
              <a:rPr lang="en-US" dirty="0"/>
              <a:t>Why the project was conceived</a:t>
            </a:r>
          </a:p>
          <a:p>
            <a:r>
              <a:rPr lang="en-US" dirty="0"/>
              <a:t> and  implemented.</a:t>
            </a:r>
          </a:p>
        </p:txBody>
      </p:sp>
    </p:spTree>
    <p:extLst>
      <p:ext uri="{BB962C8B-B14F-4D97-AF65-F5344CB8AC3E}">
        <p14:creationId xmlns:p14="http://schemas.microsoft.com/office/powerpoint/2010/main" val="1988267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90977"/>
            <a:ext cx="8297380" cy="579523"/>
          </a:xfrm>
        </p:spPr>
        <p:txBody>
          <a:bodyPr/>
          <a:lstStyle/>
          <a:p>
            <a:r>
              <a:rPr lang="en-US" dirty="0"/>
              <a:t>Why look for fuzzy oligos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1080807"/>
            <a:ext cx="8750233" cy="4207185"/>
          </a:xfrm>
        </p:spPr>
        <p:txBody>
          <a:bodyPr>
            <a:normAutofit fontScale="62500" lnSpcReduction="20000"/>
          </a:bodyPr>
          <a:lstStyle/>
          <a:p>
            <a:r>
              <a:rPr lang="en-US" sz="4000" b="1" dirty="0"/>
              <a:t>Sequence determines function</a:t>
            </a:r>
          </a:p>
          <a:p>
            <a:endParaRPr lang="en-US" sz="4000" b="1" dirty="0"/>
          </a:p>
          <a:p>
            <a:r>
              <a:rPr lang="en-US" sz="4000" b="1" dirty="0"/>
              <a:t>Evolutionary selective pressures tend to introduce mutations</a:t>
            </a:r>
          </a:p>
          <a:p>
            <a:endParaRPr lang="en-US" sz="4000" b="1" dirty="0"/>
          </a:p>
          <a:p>
            <a:r>
              <a:rPr lang="en-US" sz="4000" b="1" dirty="0"/>
              <a:t>Some positions are more important (conserved) than others</a:t>
            </a:r>
          </a:p>
          <a:p>
            <a:endParaRPr lang="en-US" sz="4000" b="1" dirty="0"/>
          </a:p>
          <a:p>
            <a:r>
              <a:rPr lang="en-US" sz="4000" b="1" dirty="0"/>
              <a:t>Fuzzy search allow discovery of related oligos still functioning similarly but harboring some differences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243" y="441960"/>
            <a:ext cx="7217654" cy="3316893"/>
          </a:xfrm>
        </p:spPr>
        <p:txBody>
          <a:bodyPr/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 dirty="0">
                <a:effectLst/>
              </a:rPr>
              <a:t>2. HPC Architecture &amp; </a:t>
            </a:r>
            <a:r>
              <a:rPr lang="en-US" sz="4000" kern="100" dirty="0" err="1">
                <a:effectLst/>
              </a:rPr>
              <a:t>Parallelisation</a:t>
            </a:r>
            <a:r>
              <a:rPr lang="en-US" sz="4000" kern="100" dirty="0">
                <a:effectLst/>
              </a:rPr>
              <a:t>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/>
          <a:lstStyle/>
          <a:p>
            <a:r>
              <a:rPr lang="en-US" dirty="0"/>
              <a:t>Leveraging HPC for large dataset analysis.</a:t>
            </a:r>
          </a:p>
        </p:txBody>
      </p:sp>
    </p:spTree>
    <p:extLst>
      <p:ext uri="{BB962C8B-B14F-4D97-AF65-F5344CB8AC3E}">
        <p14:creationId xmlns:p14="http://schemas.microsoft.com/office/powerpoint/2010/main" val="2933236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90977"/>
            <a:ext cx="8297380" cy="579523"/>
          </a:xfrm>
        </p:spPr>
        <p:txBody>
          <a:bodyPr/>
          <a:lstStyle/>
          <a:p>
            <a:r>
              <a:rPr lang="en-US" sz="2800" kern="100" dirty="0">
                <a:effectLst/>
              </a:rPr>
              <a:t>HPC Architecture &amp; Parallelization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787509"/>
            <a:ext cx="9123758" cy="5641675"/>
          </a:xfrm>
        </p:spPr>
        <p:txBody>
          <a:bodyPr>
            <a:normAutofit/>
          </a:bodyPr>
          <a:lstStyle/>
          <a:p>
            <a:endParaRPr lang="en-US" sz="3000" b="1" dirty="0"/>
          </a:p>
          <a:p>
            <a:r>
              <a:rPr lang="en-US" sz="3000" b="1" dirty="0"/>
              <a:t>With increasing number of sequences, the</a:t>
            </a:r>
          </a:p>
          <a:p>
            <a:pPr marL="0" indent="0">
              <a:buNone/>
            </a:pPr>
            <a:r>
              <a:rPr lang="en-US" sz="3000" b="1" dirty="0"/>
              <a:t>  difficulty of finding oligos with limited ambiguity</a:t>
            </a:r>
          </a:p>
          <a:p>
            <a:pPr marL="0" indent="0">
              <a:buNone/>
            </a:pPr>
            <a:r>
              <a:rPr lang="en-US" sz="3000" b="1" dirty="0"/>
              <a:t>  increases exponentially</a:t>
            </a:r>
          </a:p>
          <a:p>
            <a:endParaRPr lang="en-US" sz="3000" b="1" dirty="0"/>
          </a:p>
          <a:p>
            <a:r>
              <a:rPr lang="en-US" sz="3000" b="1" dirty="0"/>
              <a:t>When dealing with tens of millions of sequences,</a:t>
            </a:r>
          </a:p>
          <a:p>
            <a:pPr marL="0" indent="0">
              <a:buNone/>
            </a:pPr>
            <a:r>
              <a:rPr lang="en-US" sz="3000" b="1" dirty="0"/>
              <a:t>  traditional CPU-based searching is insufficient. We</a:t>
            </a:r>
          </a:p>
          <a:p>
            <a:pPr marL="0" indent="0">
              <a:buNone/>
            </a:pPr>
            <a:r>
              <a:rPr lang="en-US" sz="3000" b="1" dirty="0"/>
              <a:t>  need a highly parallel, memory-efficient solution.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855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668" y="134612"/>
            <a:ext cx="8297380" cy="536390"/>
          </a:xfrm>
        </p:spPr>
        <p:txBody>
          <a:bodyPr/>
          <a:lstStyle/>
          <a:p>
            <a:r>
              <a:rPr lang="en-US" sz="2800" kern="100" dirty="0">
                <a:effectLst/>
              </a:rPr>
              <a:t>HPC Architecture &amp; Parallelization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AB1181-8B76-C208-3F56-5C6424165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612069"/>
              </p:ext>
            </p:extLst>
          </p:nvPr>
        </p:nvGraphicFramePr>
        <p:xfrm>
          <a:off x="914400" y="763522"/>
          <a:ext cx="9821403" cy="6094477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425959">
                  <a:extLst>
                    <a:ext uri="{9D8B030D-6E8A-4147-A177-3AD203B41FA5}">
                      <a16:colId xmlns:a16="http://schemas.microsoft.com/office/drawing/2014/main" val="1838136101"/>
                    </a:ext>
                  </a:extLst>
                </a:gridCol>
                <a:gridCol w="7395444">
                  <a:extLst>
                    <a:ext uri="{9D8B030D-6E8A-4147-A177-3AD203B41FA5}">
                      <a16:colId xmlns:a16="http://schemas.microsoft.com/office/drawing/2014/main" val="627465445"/>
                    </a:ext>
                  </a:extLst>
                </a:gridCol>
              </a:tblGrid>
              <a:tr h="9380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effectLst/>
                        </a:rPr>
                        <a:t>Problem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effectLst/>
                        </a:rPr>
                        <a:t>Screening 4 to 40 Million oligo Sequences in Minutes, Not Days.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111159"/>
                  </a:ext>
                </a:extLst>
              </a:tr>
              <a:tr h="18749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effectLst/>
                        </a:rPr>
                        <a:t>Requirement 1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effectLst/>
                        </a:rPr>
                        <a:t>Fuzzy Matching: We need to find oligos that match perfectly except for a pre-defined number of ambiguous positions (degenerate sites).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305510"/>
                  </a:ext>
                </a:extLst>
              </a:tr>
              <a:tr h="18749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Requirement 2</a:t>
                      </a:r>
                    </a:p>
                  </a:txBody>
                  <a:tcPr marL="9525" marR="9525" marT="9525" marB="9525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effectLst/>
                        </a:rPr>
                        <a:t>High-Performance Compute: Generating all degenerate patterns for just one oligo involves thousands of combinations. Multiply that by thousands of query oligos.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870709"/>
                  </a:ext>
                </a:extLst>
              </a:tr>
              <a:tr h="140650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effectLst/>
                        </a:rPr>
                        <a:t>Solution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effectLst/>
                        </a:rPr>
                        <a:t>The Hybrid Architecture: CPU for complex combinatorics, GPU for brute-force vector comparison.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347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226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668" y="134612"/>
            <a:ext cx="8297380" cy="536390"/>
          </a:xfrm>
        </p:spPr>
        <p:txBody>
          <a:bodyPr/>
          <a:lstStyle/>
          <a:p>
            <a:r>
              <a:rPr lang="en-US" sz="2800" kern="100" dirty="0">
                <a:effectLst/>
              </a:rPr>
              <a:t>HPC Architecture &amp; Parallelization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AB1181-8B76-C208-3F56-5C6424165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393004"/>
              </p:ext>
            </p:extLst>
          </p:nvPr>
        </p:nvGraphicFramePr>
        <p:xfrm>
          <a:off x="220203" y="763522"/>
          <a:ext cx="10743266" cy="5771925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542368">
                  <a:extLst>
                    <a:ext uri="{9D8B030D-6E8A-4147-A177-3AD203B41FA5}">
                      <a16:colId xmlns:a16="http://schemas.microsoft.com/office/drawing/2014/main" val="1838136101"/>
                    </a:ext>
                  </a:extLst>
                </a:gridCol>
                <a:gridCol w="8200898">
                  <a:extLst>
                    <a:ext uri="{9D8B030D-6E8A-4147-A177-3AD203B41FA5}">
                      <a16:colId xmlns:a16="http://schemas.microsoft.com/office/drawing/2014/main" val="627465445"/>
                    </a:ext>
                  </a:extLst>
                </a:gridCol>
              </a:tblGrid>
              <a:tr h="8927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 Role</a:t>
                      </a:r>
                    </a:p>
                  </a:txBody>
                  <a:tcPr marL="9525" marR="9525" marT="9525" marB="9525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Orchestration &amp; Combinatorics (30 Cores)</a:t>
                      </a:r>
                    </a:p>
                  </a:txBody>
                  <a:tcPr marL="9525" marR="9525" marT="9525" marB="9525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111159"/>
                  </a:ext>
                </a:extLst>
              </a:tr>
              <a:tr h="6039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GPU Role</a:t>
                      </a:r>
                    </a:p>
                  </a:txBody>
                  <a:tcPr marL="9525" marR="9525" marT="9525" marB="95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Massive Vectorized Comparison (4 GPUs)</a:t>
                      </a:r>
                    </a:p>
                  </a:txBody>
                  <a:tcPr marL="9525" marR="9525" marT="9525" marB="9525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305510"/>
                  </a:ext>
                </a:extLst>
              </a:tr>
              <a:tr h="244436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Flow</a:t>
                      </a:r>
                    </a:p>
                  </a:txBody>
                  <a:tcPr marL="9525" marR="9525" marT="9525" marB="9525" anchor="ctr"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Master Data (400GB RAM)       GPU VRAM     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Match Counts       GPU      Query Patterns </a:t>
                      </a:r>
                      <a:endParaRPr lang="en-US" sz="2800" i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i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CPU</a:t>
                      </a:r>
                    </a:p>
                  </a:txBody>
                  <a:tcPr marL="9525" marR="9525" marT="9525" marB="9525" anchor="ctr">
                    <a:solidFill>
                      <a:srgbClr val="00B05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870709"/>
                  </a:ext>
                </a:extLst>
              </a:tr>
              <a:tr h="18308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Component</a:t>
                      </a:r>
                    </a:p>
                  </a:txBody>
                  <a:tcPr marL="9525" marR="9525" marT="9525" marB="95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b="1" kern="1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GpuManager Class</a:t>
                      </a: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Handles data splitting, GPU assignment, and memory management across devices (the heart of the parallel strategy).</a:t>
                      </a:r>
                    </a:p>
                  </a:txBody>
                  <a:tcPr marL="9525" marR="9525" marT="9525" marB="9525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347013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D8A9D102-CF70-AB2C-78F0-D8F7A7258D05}"/>
              </a:ext>
            </a:extLst>
          </p:cNvPr>
          <p:cNvSpPr/>
          <p:nvPr/>
        </p:nvSpPr>
        <p:spPr>
          <a:xfrm>
            <a:off x="7258330" y="2829470"/>
            <a:ext cx="431322" cy="27295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Curved Left 3">
            <a:extLst>
              <a:ext uri="{FF2B5EF4-FFF2-40B4-BE49-F238E27FC236}">
                <a16:creationId xmlns:a16="http://schemas.microsoft.com/office/drawing/2014/main" id="{17BB381F-4424-B4C0-5B8B-7A6D72A58B03}"/>
              </a:ext>
            </a:extLst>
          </p:cNvPr>
          <p:cNvSpPr/>
          <p:nvPr/>
        </p:nvSpPr>
        <p:spPr>
          <a:xfrm>
            <a:off x="9763768" y="2876125"/>
            <a:ext cx="636595" cy="831710"/>
          </a:xfrm>
          <a:prstGeom prst="curvedLeftArrow">
            <a:avLst>
              <a:gd name="adj1" fmla="val 25000"/>
              <a:gd name="adj2" fmla="val 65325"/>
              <a:gd name="adj3" fmla="val 2500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716BEA1-1BDF-05EC-9BFC-81CCC69473A0}"/>
              </a:ext>
            </a:extLst>
          </p:cNvPr>
          <p:cNvSpPr/>
          <p:nvPr/>
        </p:nvSpPr>
        <p:spPr>
          <a:xfrm flipH="1">
            <a:off x="6831453" y="3351348"/>
            <a:ext cx="431321" cy="33507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E925003-DDCD-2DFB-F143-C206AF3C639D}"/>
              </a:ext>
            </a:extLst>
          </p:cNvPr>
          <p:cNvSpPr/>
          <p:nvPr/>
        </p:nvSpPr>
        <p:spPr>
          <a:xfrm flipH="1">
            <a:off x="5529324" y="3336068"/>
            <a:ext cx="431321" cy="33507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6F909360-727D-7F04-8D76-E0D6813577FA}"/>
              </a:ext>
            </a:extLst>
          </p:cNvPr>
          <p:cNvSpPr/>
          <p:nvPr/>
        </p:nvSpPr>
        <p:spPr>
          <a:xfrm flipH="1">
            <a:off x="2503701" y="3429000"/>
            <a:ext cx="648817" cy="709126"/>
          </a:xfrm>
          <a:prstGeom prst="curved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532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043" y="441961"/>
            <a:ext cx="7674854" cy="2560032"/>
          </a:xfrm>
        </p:spPr>
        <p:txBody>
          <a:bodyPr>
            <a:norm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 dirty="0">
                <a:effectLst/>
              </a:rPr>
              <a:t>3. Deep Dive: </a:t>
            </a:r>
            <a:br>
              <a:rPr lang="en-US" sz="4000" kern="100" dirty="0">
                <a:effectLst/>
              </a:rPr>
            </a:br>
            <a:r>
              <a:rPr lang="en-US" sz="4000" kern="100" dirty="0">
                <a:effectLst/>
              </a:rPr>
              <a:t>Encoding Strategies (Decimal vs. One-Hot).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925" y="3968152"/>
            <a:ext cx="7185803" cy="184605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badi ExtraLight" panose="020F0502020204030204" pitchFamily="34" charset="0"/>
              </a:rPr>
              <a:t>The three faces of DNA encoding:</a:t>
            </a:r>
            <a:endParaRPr lang="en-US" dirty="0">
              <a:latin typeface="Abadi ExtraLight" panose="020F0502020204030204" pitchFamily="34" charset="0"/>
            </a:endParaRPr>
          </a:p>
          <a:p>
            <a:pPr lvl="2"/>
            <a:r>
              <a:rPr lang="en-US" sz="3600" dirty="0">
                <a:latin typeface="Abadi ExtraLight" panose="020F0502020204030204" pitchFamily="34" charset="0"/>
              </a:rPr>
              <a:t>binary,</a:t>
            </a:r>
          </a:p>
          <a:p>
            <a:pPr lvl="2"/>
            <a:r>
              <a:rPr lang="en-US" sz="3600" dirty="0">
                <a:latin typeface="Abadi ExtraLight" panose="020F0502020204030204" pitchFamily="34" charset="0"/>
              </a:rPr>
              <a:t>decimal, </a:t>
            </a:r>
          </a:p>
          <a:p>
            <a:pPr lvl="2"/>
            <a:r>
              <a:rPr lang="en-US" sz="3600" dirty="0">
                <a:latin typeface="Abadi ExtraLight" panose="020F0502020204030204" pitchFamily="34" charset="0"/>
              </a:rPr>
              <a:t>one-hot</a:t>
            </a:r>
          </a:p>
        </p:txBody>
      </p:sp>
    </p:spTree>
    <p:extLst>
      <p:ext uri="{BB962C8B-B14F-4D97-AF65-F5344CB8AC3E}">
        <p14:creationId xmlns:p14="http://schemas.microsoft.com/office/powerpoint/2010/main" val="214429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5C6B83D-558E-D1BE-E7BD-1900505A1CA7}"/>
              </a:ext>
            </a:extLst>
          </p:cNvPr>
          <p:cNvSpPr/>
          <p:nvPr/>
        </p:nvSpPr>
        <p:spPr>
          <a:xfrm>
            <a:off x="4291497" y="2543044"/>
            <a:ext cx="4007172" cy="113402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D5A924-0E39-E66C-7144-AB114245F3B0}"/>
              </a:ext>
            </a:extLst>
          </p:cNvPr>
          <p:cNvSpPr/>
          <p:nvPr/>
        </p:nvSpPr>
        <p:spPr>
          <a:xfrm>
            <a:off x="4291497" y="1003175"/>
            <a:ext cx="4007172" cy="1133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87E33-38CD-96BC-4DE5-CA38CB771711}"/>
              </a:ext>
            </a:extLst>
          </p:cNvPr>
          <p:cNvSpPr/>
          <p:nvPr/>
        </p:nvSpPr>
        <p:spPr>
          <a:xfrm>
            <a:off x="4362089" y="4082240"/>
            <a:ext cx="3936580" cy="26918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413" y="59519"/>
            <a:ext cx="10405174" cy="623744"/>
          </a:xfrm>
        </p:spPr>
        <p:txBody>
          <a:bodyPr anchor="b">
            <a:normAutofit/>
          </a:bodyPr>
          <a:lstStyle/>
          <a:p>
            <a:r>
              <a:rPr lang="en-US" kern="100" dirty="0"/>
              <a:t>The three faces of DNA encoding:</a:t>
            </a:r>
            <a:endParaRPr lang="en-ZA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9A34BED-3676-7D29-5C3D-2BBC36FA55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18376" y="1363507"/>
            <a:ext cx="3144837" cy="6237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kern="100" cap="all" dirty="0">
                <a:latin typeface="+mj-lt"/>
                <a:ea typeface="+mj-ea"/>
                <a:cs typeface="+mj-cs"/>
              </a:rPr>
              <a:t>1. DECIMAL ENCODING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55A2A3-D410-439A-5D0C-66B6E1497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223764"/>
              </p:ext>
            </p:extLst>
          </p:nvPr>
        </p:nvGraphicFramePr>
        <p:xfrm>
          <a:off x="4291497" y="1004523"/>
          <a:ext cx="4007172" cy="1133348"/>
        </p:xfrm>
        <a:graphic>
          <a:graphicData uri="http://schemas.openxmlformats.org/drawingml/2006/table">
            <a:tbl>
              <a:tblPr firstRow="1" firstCol="1" bandRow="1"/>
              <a:tblGrid>
                <a:gridCol w="993459">
                  <a:extLst>
                    <a:ext uri="{9D8B030D-6E8A-4147-A177-3AD203B41FA5}">
                      <a16:colId xmlns:a16="http://schemas.microsoft.com/office/drawing/2014/main" val="1594940844"/>
                    </a:ext>
                  </a:extLst>
                </a:gridCol>
                <a:gridCol w="1026795">
                  <a:extLst>
                    <a:ext uri="{9D8B030D-6E8A-4147-A177-3AD203B41FA5}">
                      <a16:colId xmlns:a16="http://schemas.microsoft.com/office/drawing/2014/main" val="709194081"/>
                    </a:ext>
                  </a:extLst>
                </a:gridCol>
                <a:gridCol w="1031559">
                  <a:extLst>
                    <a:ext uri="{9D8B030D-6E8A-4147-A177-3AD203B41FA5}">
                      <a16:colId xmlns:a16="http://schemas.microsoft.com/office/drawing/2014/main" val="3737279279"/>
                    </a:ext>
                  </a:extLst>
                </a:gridCol>
                <a:gridCol w="955359">
                  <a:extLst>
                    <a:ext uri="{9D8B030D-6E8A-4147-A177-3AD203B41FA5}">
                      <a16:colId xmlns:a16="http://schemas.microsoft.com/office/drawing/2014/main" val="2769964005"/>
                    </a:ext>
                  </a:extLst>
                </a:gridCol>
              </a:tblGrid>
              <a:tr h="47684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671887"/>
                  </a:ext>
                </a:extLst>
              </a:tr>
              <a:tr h="47684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61561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9537B73-219E-0583-54D9-8B06478F879C}"/>
              </a:ext>
            </a:extLst>
          </p:cNvPr>
          <p:cNvSpPr txBox="1">
            <a:spLocks/>
          </p:cNvSpPr>
          <p:nvPr/>
        </p:nvSpPr>
        <p:spPr>
          <a:xfrm>
            <a:off x="1032121" y="2971721"/>
            <a:ext cx="3144837" cy="62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2004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b="1" kern="100" cap="all" dirty="0">
                <a:latin typeface="+mj-lt"/>
                <a:ea typeface="+mj-ea"/>
                <a:cs typeface="+mj-cs"/>
              </a:rPr>
              <a:t>2. BINARY ENCODING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91DC0AA-CD72-1253-7032-14C4307AC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231451"/>
              </p:ext>
            </p:extLst>
          </p:nvPr>
        </p:nvGraphicFramePr>
        <p:xfrm>
          <a:off x="4291497" y="2543043"/>
          <a:ext cx="4007172" cy="1133350"/>
        </p:xfrm>
        <a:graphic>
          <a:graphicData uri="http://schemas.openxmlformats.org/drawingml/2006/table">
            <a:tbl>
              <a:tblPr firstRow="1" firstCol="1" bandRow="1"/>
              <a:tblGrid>
                <a:gridCol w="993459">
                  <a:extLst>
                    <a:ext uri="{9D8B030D-6E8A-4147-A177-3AD203B41FA5}">
                      <a16:colId xmlns:a16="http://schemas.microsoft.com/office/drawing/2014/main" val="1594940844"/>
                    </a:ext>
                  </a:extLst>
                </a:gridCol>
                <a:gridCol w="1026795">
                  <a:extLst>
                    <a:ext uri="{9D8B030D-6E8A-4147-A177-3AD203B41FA5}">
                      <a16:colId xmlns:a16="http://schemas.microsoft.com/office/drawing/2014/main" val="709194081"/>
                    </a:ext>
                  </a:extLst>
                </a:gridCol>
                <a:gridCol w="1031559">
                  <a:extLst>
                    <a:ext uri="{9D8B030D-6E8A-4147-A177-3AD203B41FA5}">
                      <a16:colId xmlns:a16="http://schemas.microsoft.com/office/drawing/2014/main" val="3737279279"/>
                    </a:ext>
                  </a:extLst>
                </a:gridCol>
                <a:gridCol w="955359">
                  <a:extLst>
                    <a:ext uri="{9D8B030D-6E8A-4147-A177-3AD203B41FA5}">
                      <a16:colId xmlns:a16="http://schemas.microsoft.com/office/drawing/2014/main" val="2769964005"/>
                    </a:ext>
                  </a:extLst>
                </a:gridCol>
              </a:tblGrid>
              <a:tr h="566675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671887"/>
                  </a:ext>
                </a:extLst>
              </a:tr>
              <a:tr h="566675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 dirty="0"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61561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AAE4A93-A00C-4031-D869-717F05D613CC}"/>
              </a:ext>
            </a:extLst>
          </p:cNvPr>
          <p:cNvSpPr txBox="1">
            <a:spLocks/>
          </p:cNvSpPr>
          <p:nvPr/>
        </p:nvSpPr>
        <p:spPr>
          <a:xfrm>
            <a:off x="1032120" y="5260179"/>
            <a:ext cx="3144837" cy="6237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2004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kern="100" cap="all" dirty="0">
                <a:latin typeface="+mj-lt"/>
                <a:ea typeface="+mj-ea"/>
                <a:cs typeface="+mj-cs"/>
              </a:rPr>
              <a:t>3. ONE-HOT ENCODING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3479823-BAA4-B5AB-2A9C-CC699067A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31941"/>
              </p:ext>
            </p:extLst>
          </p:nvPr>
        </p:nvGraphicFramePr>
        <p:xfrm>
          <a:off x="4362089" y="4082240"/>
          <a:ext cx="3936580" cy="2690495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718869">
                  <a:extLst>
                    <a:ext uri="{9D8B030D-6E8A-4147-A177-3AD203B41FA5}">
                      <a16:colId xmlns:a16="http://schemas.microsoft.com/office/drawing/2014/main" val="1547042327"/>
                    </a:ext>
                  </a:extLst>
                </a:gridCol>
                <a:gridCol w="707367">
                  <a:extLst>
                    <a:ext uri="{9D8B030D-6E8A-4147-A177-3AD203B41FA5}">
                      <a16:colId xmlns:a16="http://schemas.microsoft.com/office/drawing/2014/main" val="1073305008"/>
                    </a:ext>
                  </a:extLst>
                </a:gridCol>
                <a:gridCol w="845388">
                  <a:extLst>
                    <a:ext uri="{9D8B030D-6E8A-4147-A177-3AD203B41FA5}">
                      <a16:colId xmlns:a16="http://schemas.microsoft.com/office/drawing/2014/main" val="80715792"/>
                    </a:ext>
                  </a:extLst>
                </a:gridCol>
                <a:gridCol w="871268">
                  <a:extLst>
                    <a:ext uri="{9D8B030D-6E8A-4147-A177-3AD203B41FA5}">
                      <a16:colId xmlns:a16="http://schemas.microsoft.com/office/drawing/2014/main" val="569241779"/>
                    </a:ext>
                  </a:extLst>
                </a:gridCol>
                <a:gridCol w="793688">
                  <a:extLst>
                    <a:ext uri="{9D8B030D-6E8A-4147-A177-3AD203B41FA5}">
                      <a16:colId xmlns:a16="http://schemas.microsoft.com/office/drawing/2014/main" val="3575505770"/>
                    </a:ext>
                  </a:extLst>
                </a:gridCol>
              </a:tblGrid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235880"/>
                  </a:ext>
                </a:extLst>
              </a:tr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645718"/>
                  </a:ext>
                </a:extLst>
              </a:tr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367041"/>
                  </a:ext>
                </a:extLst>
              </a:tr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654274"/>
                  </a:ext>
                </a:extLst>
              </a:tr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148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78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6A489-910C-4074-8AE8-39922F8D0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4F09B77-9496-F50F-BAF4-110D55BF2BB8}"/>
              </a:ext>
            </a:extLst>
          </p:cNvPr>
          <p:cNvSpPr/>
          <p:nvPr/>
        </p:nvSpPr>
        <p:spPr>
          <a:xfrm>
            <a:off x="4291497" y="1003175"/>
            <a:ext cx="4007172" cy="1133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273EE3-C800-ED3D-C98D-3EFCD7484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413" y="59519"/>
            <a:ext cx="10405174" cy="623744"/>
          </a:xfrm>
        </p:spPr>
        <p:txBody>
          <a:bodyPr anchor="b">
            <a:normAutofit/>
          </a:bodyPr>
          <a:lstStyle/>
          <a:p>
            <a:r>
              <a:rPr lang="en-US" kern="100"/>
              <a:t>Why choose decimal encoding?</a:t>
            </a:r>
            <a:endParaRPr lang="en-ZA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6ABF785-7EB7-308C-2CE0-34C3D27CFD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18376" y="1363507"/>
            <a:ext cx="3144837" cy="6237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kern="100" cap="all">
                <a:latin typeface="+mj-lt"/>
                <a:ea typeface="+mj-ea"/>
                <a:cs typeface="+mj-cs"/>
              </a:rPr>
              <a:t>1. DECIMAL ENCODING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36DA57-38B6-29A8-E3C1-66CF6676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0E576D9-3517-1414-DFE1-2E9FA858F177}"/>
              </a:ext>
            </a:extLst>
          </p:cNvPr>
          <p:cNvGraphicFramePr>
            <a:graphicFrameLocks noGrp="1"/>
          </p:cNvGraphicFramePr>
          <p:nvPr/>
        </p:nvGraphicFramePr>
        <p:xfrm>
          <a:off x="4291497" y="1004523"/>
          <a:ext cx="4007172" cy="1133348"/>
        </p:xfrm>
        <a:graphic>
          <a:graphicData uri="http://schemas.openxmlformats.org/drawingml/2006/table">
            <a:tbl>
              <a:tblPr firstRow="1" firstCol="1" bandRow="1"/>
              <a:tblGrid>
                <a:gridCol w="993459">
                  <a:extLst>
                    <a:ext uri="{9D8B030D-6E8A-4147-A177-3AD203B41FA5}">
                      <a16:colId xmlns:a16="http://schemas.microsoft.com/office/drawing/2014/main" val="1594940844"/>
                    </a:ext>
                  </a:extLst>
                </a:gridCol>
                <a:gridCol w="1026795">
                  <a:extLst>
                    <a:ext uri="{9D8B030D-6E8A-4147-A177-3AD203B41FA5}">
                      <a16:colId xmlns:a16="http://schemas.microsoft.com/office/drawing/2014/main" val="709194081"/>
                    </a:ext>
                  </a:extLst>
                </a:gridCol>
                <a:gridCol w="1031559">
                  <a:extLst>
                    <a:ext uri="{9D8B030D-6E8A-4147-A177-3AD203B41FA5}">
                      <a16:colId xmlns:a16="http://schemas.microsoft.com/office/drawing/2014/main" val="3737279279"/>
                    </a:ext>
                  </a:extLst>
                </a:gridCol>
                <a:gridCol w="955359">
                  <a:extLst>
                    <a:ext uri="{9D8B030D-6E8A-4147-A177-3AD203B41FA5}">
                      <a16:colId xmlns:a16="http://schemas.microsoft.com/office/drawing/2014/main" val="2769964005"/>
                    </a:ext>
                  </a:extLst>
                </a:gridCol>
              </a:tblGrid>
              <a:tr h="47684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671887"/>
                  </a:ext>
                </a:extLst>
              </a:tr>
              <a:tr h="47684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6156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52ABC5-1695-3316-F39F-19ABE8793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154309"/>
              </p:ext>
            </p:extLst>
          </p:nvPr>
        </p:nvGraphicFramePr>
        <p:xfrm>
          <a:off x="1037283" y="2456435"/>
          <a:ext cx="10515600" cy="270297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096178">
                  <a:extLst>
                    <a:ext uri="{9D8B030D-6E8A-4147-A177-3AD203B41FA5}">
                      <a16:colId xmlns:a16="http://schemas.microsoft.com/office/drawing/2014/main" val="794549203"/>
                    </a:ext>
                  </a:extLst>
                </a:gridCol>
                <a:gridCol w="7419422">
                  <a:extLst>
                    <a:ext uri="{9D8B030D-6E8A-4147-A177-3AD203B41FA5}">
                      <a16:colId xmlns:a16="http://schemas.microsoft.com/office/drawing/2014/main" val="2035874482"/>
                    </a:ext>
                  </a:extLst>
                </a:gridCol>
              </a:tblGrid>
              <a:tr h="1425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Encoding Used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Decimal Encoding (The torch.int8 Strategy)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 map bases to single-digit integers: A=1, C=2, G=3, T=4, Wildcard/N=0. The entire sequence is stored as a single tensor of 8-bit signed integers.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0665902"/>
                  </a:ext>
                </a:extLst>
              </a:tr>
              <a:tr h="53814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Pro: Memory Footprint (CRITICAL)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Massive 4x Memory Saving.</a:t>
                      </a:r>
                    </a:p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Each base takes 1 byte of memory. For 10 million sequences of length 20, we save 300+ GB of VRAM compared to standard 32-bit floats. This allows us to fit the entire master dataset on the GPUs.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74371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18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EA3F-67EA-6A37-9AF1-304D5DB9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95D55C9-598E-908B-2EC9-029C951169AD}"/>
              </a:ext>
            </a:extLst>
          </p:cNvPr>
          <p:cNvSpPr/>
          <p:nvPr/>
        </p:nvSpPr>
        <p:spPr>
          <a:xfrm>
            <a:off x="4291497" y="1003175"/>
            <a:ext cx="4007172" cy="1133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F49CA-CEC9-D5A7-0C30-4A2F99E1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413" y="59519"/>
            <a:ext cx="10405174" cy="623744"/>
          </a:xfrm>
        </p:spPr>
        <p:txBody>
          <a:bodyPr anchor="b">
            <a:normAutofit/>
          </a:bodyPr>
          <a:lstStyle/>
          <a:p>
            <a:r>
              <a:rPr lang="en-US" kern="100"/>
              <a:t>Why choose decimal encoding?</a:t>
            </a:r>
            <a:endParaRPr lang="en-ZA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4C46E3-A8E9-7FA0-8292-9B8176B2A0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18376" y="1363507"/>
            <a:ext cx="3144837" cy="6237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kern="100" cap="all">
                <a:latin typeface="+mj-lt"/>
                <a:ea typeface="+mj-ea"/>
                <a:cs typeface="+mj-cs"/>
              </a:rPr>
              <a:t>1. DECIMAL ENCODING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D57FB2-0549-F462-4D6C-A1D0DF771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CE05390-5C22-F77A-97C6-9E56EFF1800C}"/>
              </a:ext>
            </a:extLst>
          </p:cNvPr>
          <p:cNvGraphicFramePr>
            <a:graphicFrameLocks noGrp="1"/>
          </p:cNvGraphicFramePr>
          <p:nvPr/>
        </p:nvGraphicFramePr>
        <p:xfrm>
          <a:off x="4291497" y="1004523"/>
          <a:ext cx="4007172" cy="1133348"/>
        </p:xfrm>
        <a:graphic>
          <a:graphicData uri="http://schemas.openxmlformats.org/drawingml/2006/table">
            <a:tbl>
              <a:tblPr firstRow="1" firstCol="1" bandRow="1"/>
              <a:tblGrid>
                <a:gridCol w="993459">
                  <a:extLst>
                    <a:ext uri="{9D8B030D-6E8A-4147-A177-3AD203B41FA5}">
                      <a16:colId xmlns:a16="http://schemas.microsoft.com/office/drawing/2014/main" val="1594940844"/>
                    </a:ext>
                  </a:extLst>
                </a:gridCol>
                <a:gridCol w="1026795">
                  <a:extLst>
                    <a:ext uri="{9D8B030D-6E8A-4147-A177-3AD203B41FA5}">
                      <a16:colId xmlns:a16="http://schemas.microsoft.com/office/drawing/2014/main" val="709194081"/>
                    </a:ext>
                  </a:extLst>
                </a:gridCol>
                <a:gridCol w="1031559">
                  <a:extLst>
                    <a:ext uri="{9D8B030D-6E8A-4147-A177-3AD203B41FA5}">
                      <a16:colId xmlns:a16="http://schemas.microsoft.com/office/drawing/2014/main" val="3737279279"/>
                    </a:ext>
                  </a:extLst>
                </a:gridCol>
                <a:gridCol w="955359">
                  <a:extLst>
                    <a:ext uri="{9D8B030D-6E8A-4147-A177-3AD203B41FA5}">
                      <a16:colId xmlns:a16="http://schemas.microsoft.com/office/drawing/2014/main" val="2769964005"/>
                    </a:ext>
                  </a:extLst>
                </a:gridCol>
              </a:tblGrid>
              <a:tr h="47684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671887"/>
                  </a:ext>
                </a:extLst>
              </a:tr>
              <a:tr h="47684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6156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F4F792-EE18-C00C-E75B-224F70D75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511163"/>
              </p:ext>
            </p:extLst>
          </p:nvPr>
        </p:nvGraphicFramePr>
        <p:xfrm>
          <a:off x="951785" y="2456435"/>
          <a:ext cx="10515600" cy="2617188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806827">
                  <a:extLst>
                    <a:ext uri="{9D8B030D-6E8A-4147-A177-3AD203B41FA5}">
                      <a16:colId xmlns:a16="http://schemas.microsoft.com/office/drawing/2014/main" val="678955811"/>
                    </a:ext>
                  </a:extLst>
                </a:gridCol>
                <a:gridCol w="6708773">
                  <a:extLst>
                    <a:ext uri="{9D8B030D-6E8A-4147-A177-3AD203B41FA5}">
                      <a16:colId xmlns:a16="http://schemas.microsoft.com/office/drawing/2014/main" val="2296501220"/>
                    </a:ext>
                  </a:extLst>
                </a:gridCol>
              </a:tblGrid>
              <a:tr h="26171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Pro: Memory Footprint (CRITICAL)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Massive 4x Memory Saving.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Each base takes 1 byte of memory. For 10 million sequences of length 20, we save 300+ GB of VRAM compared to standard 32-bit floats. This allows us to fit the entire master dataset on the GPUs.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4095342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1093B9-730A-6936-51D4-36AF13494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935043"/>
              </p:ext>
            </p:extLst>
          </p:nvPr>
        </p:nvGraphicFramePr>
        <p:xfrm>
          <a:off x="951785" y="5073623"/>
          <a:ext cx="10515600" cy="153812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872142">
                  <a:extLst>
                    <a:ext uri="{9D8B030D-6E8A-4147-A177-3AD203B41FA5}">
                      <a16:colId xmlns:a16="http://schemas.microsoft.com/office/drawing/2014/main" val="1331709762"/>
                    </a:ext>
                  </a:extLst>
                </a:gridCol>
                <a:gridCol w="6643458">
                  <a:extLst>
                    <a:ext uri="{9D8B030D-6E8A-4147-A177-3AD203B41FA5}">
                      <a16:colId xmlns:a16="http://schemas.microsoft.com/office/drawing/2014/main" val="4191516805"/>
                    </a:ext>
                  </a:extLst>
                </a:gridCol>
              </a:tblGrid>
              <a:tr h="15381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Pro: Comparison Speed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Fastest Possible Equality Check.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Comparing two int8 numbers is faster than comparing arrays or vectors (as required in One-Hot). The core matching is simply: (master_chunk == pattern_tensor).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17578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266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61E02-5865-C34F-B092-132CC304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80C9B28-F98D-9B74-CCA3-25F67A2DD0F7}"/>
              </a:ext>
            </a:extLst>
          </p:cNvPr>
          <p:cNvSpPr/>
          <p:nvPr/>
        </p:nvSpPr>
        <p:spPr>
          <a:xfrm>
            <a:off x="4291497" y="1003175"/>
            <a:ext cx="4007172" cy="1133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2F47E-EBBD-B4CA-7B07-0DEFA3D7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413" y="59519"/>
            <a:ext cx="10405174" cy="623744"/>
          </a:xfrm>
        </p:spPr>
        <p:txBody>
          <a:bodyPr anchor="b">
            <a:normAutofit/>
          </a:bodyPr>
          <a:lstStyle/>
          <a:p>
            <a:r>
              <a:rPr lang="en-US" kern="100"/>
              <a:t>Why choose decimal encoding?</a:t>
            </a:r>
            <a:endParaRPr lang="en-ZA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3D51C18-0630-DAF8-C499-A07E4BC08D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18376" y="1363507"/>
            <a:ext cx="3144837" cy="6237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kern="100" cap="all">
                <a:latin typeface="+mj-lt"/>
                <a:ea typeface="+mj-ea"/>
                <a:cs typeface="+mj-cs"/>
              </a:rPr>
              <a:t>1. DECIMAL ENCODING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4E9B13-4D5A-1B41-2842-A5FCB27C6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F1A1852-CF2B-1833-D801-D8E931E2580F}"/>
              </a:ext>
            </a:extLst>
          </p:cNvPr>
          <p:cNvGraphicFramePr>
            <a:graphicFrameLocks noGrp="1"/>
          </p:cNvGraphicFramePr>
          <p:nvPr/>
        </p:nvGraphicFramePr>
        <p:xfrm>
          <a:off x="4291497" y="1004523"/>
          <a:ext cx="4007172" cy="1133348"/>
        </p:xfrm>
        <a:graphic>
          <a:graphicData uri="http://schemas.openxmlformats.org/drawingml/2006/table">
            <a:tbl>
              <a:tblPr firstRow="1" firstCol="1" bandRow="1"/>
              <a:tblGrid>
                <a:gridCol w="993459">
                  <a:extLst>
                    <a:ext uri="{9D8B030D-6E8A-4147-A177-3AD203B41FA5}">
                      <a16:colId xmlns:a16="http://schemas.microsoft.com/office/drawing/2014/main" val="1594940844"/>
                    </a:ext>
                  </a:extLst>
                </a:gridCol>
                <a:gridCol w="1026795">
                  <a:extLst>
                    <a:ext uri="{9D8B030D-6E8A-4147-A177-3AD203B41FA5}">
                      <a16:colId xmlns:a16="http://schemas.microsoft.com/office/drawing/2014/main" val="709194081"/>
                    </a:ext>
                  </a:extLst>
                </a:gridCol>
                <a:gridCol w="1031559">
                  <a:extLst>
                    <a:ext uri="{9D8B030D-6E8A-4147-A177-3AD203B41FA5}">
                      <a16:colId xmlns:a16="http://schemas.microsoft.com/office/drawing/2014/main" val="3737279279"/>
                    </a:ext>
                  </a:extLst>
                </a:gridCol>
                <a:gridCol w="955359">
                  <a:extLst>
                    <a:ext uri="{9D8B030D-6E8A-4147-A177-3AD203B41FA5}">
                      <a16:colId xmlns:a16="http://schemas.microsoft.com/office/drawing/2014/main" val="2769964005"/>
                    </a:ext>
                  </a:extLst>
                </a:gridCol>
              </a:tblGrid>
              <a:tr h="47684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671887"/>
                  </a:ext>
                </a:extLst>
              </a:tr>
              <a:tr h="47684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buNone/>
                      </a:pPr>
                      <a:r>
                        <a:rPr lang="en-US" sz="3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6156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A1197A-5767-8AC8-01EA-DCA5AEEB4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60271"/>
              </p:ext>
            </p:extLst>
          </p:nvPr>
        </p:nvGraphicFramePr>
        <p:xfrm>
          <a:off x="951785" y="2456435"/>
          <a:ext cx="10515600" cy="2446338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806827">
                  <a:extLst>
                    <a:ext uri="{9D8B030D-6E8A-4147-A177-3AD203B41FA5}">
                      <a16:colId xmlns:a16="http://schemas.microsoft.com/office/drawing/2014/main" val="678955811"/>
                    </a:ext>
                  </a:extLst>
                </a:gridCol>
                <a:gridCol w="6708773">
                  <a:extLst>
                    <a:ext uri="{9D8B030D-6E8A-4147-A177-3AD203B41FA5}">
                      <a16:colId xmlns:a16="http://schemas.microsoft.com/office/drawing/2014/main" val="2296501220"/>
                    </a:ext>
                  </a:extLst>
                </a:gridCol>
              </a:tblGrid>
              <a:tr h="22636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Con: Flexibility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to Simple Fuzzy Rules.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encoding is only effective for exact base match or wildcard/don't care (0). It cannot natively handle complex IUPAC degeneracies (like 'R' for A/G or 'Y' for C/T) without complex bitwise operations.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4095342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0B9FA4-E6A0-05AF-3D34-35D4961F2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63859"/>
              </p:ext>
            </p:extLst>
          </p:nvPr>
        </p:nvGraphicFramePr>
        <p:xfrm>
          <a:off x="893413" y="4902773"/>
          <a:ext cx="10534324" cy="1562037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890866">
                  <a:extLst>
                    <a:ext uri="{9D8B030D-6E8A-4147-A177-3AD203B41FA5}">
                      <a16:colId xmlns:a16="http://schemas.microsoft.com/office/drawing/2014/main" val="1331709762"/>
                    </a:ext>
                  </a:extLst>
                </a:gridCol>
                <a:gridCol w="6643458">
                  <a:extLst>
                    <a:ext uri="{9D8B030D-6E8A-4147-A177-3AD203B41FA5}">
                      <a16:colId xmlns:a16="http://schemas.microsoft.com/office/drawing/2014/main" val="4191516805"/>
                    </a:ext>
                  </a:extLst>
                </a:gridCol>
              </a:tblGrid>
              <a:tr h="15381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Conclusion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Decimal wins for speed/scale. The memory efficiency is worth the trade-off in complex matching rules, as the fuzzy rule is fixed (3 non-flanking ambiguities).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17578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7831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E1236-8E20-A8FD-5C3B-B161028AA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A5C5E-27D7-8379-CD95-C3D664745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413" y="59519"/>
            <a:ext cx="10405174" cy="623744"/>
          </a:xfrm>
        </p:spPr>
        <p:txBody>
          <a:bodyPr anchor="b">
            <a:normAutofit/>
          </a:bodyPr>
          <a:lstStyle/>
          <a:p>
            <a:r>
              <a:rPr lang="en-US" kern="100"/>
              <a:t>Why one-hot encoding was abandoned?</a:t>
            </a:r>
            <a:endParaRPr lang="en-Z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0A03DB-1559-CDD7-A9BA-3F1FB27BD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6F5E98-F77C-7899-3593-3E41666BB29F}"/>
              </a:ext>
            </a:extLst>
          </p:cNvPr>
          <p:cNvSpPr txBox="1">
            <a:spLocks/>
          </p:cNvSpPr>
          <p:nvPr/>
        </p:nvSpPr>
        <p:spPr>
          <a:xfrm>
            <a:off x="911352" y="1861202"/>
            <a:ext cx="3144837" cy="6237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2004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320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kern="100" cap="all">
                <a:latin typeface="+mj-lt"/>
                <a:ea typeface="+mj-ea"/>
                <a:cs typeface="+mj-cs"/>
              </a:rPr>
              <a:t>3. ONE-HOT ENCODING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A4DBEE1-C0BC-6318-EBD1-54DB9E156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579696"/>
              </p:ext>
            </p:extLst>
          </p:nvPr>
        </p:nvGraphicFramePr>
        <p:xfrm>
          <a:off x="4241321" y="683263"/>
          <a:ext cx="3936580" cy="2690495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718869">
                  <a:extLst>
                    <a:ext uri="{9D8B030D-6E8A-4147-A177-3AD203B41FA5}">
                      <a16:colId xmlns:a16="http://schemas.microsoft.com/office/drawing/2014/main" val="1547042327"/>
                    </a:ext>
                  </a:extLst>
                </a:gridCol>
                <a:gridCol w="707367">
                  <a:extLst>
                    <a:ext uri="{9D8B030D-6E8A-4147-A177-3AD203B41FA5}">
                      <a16:colId xmlns:a16="http://schemas.microsoft.com/office/drawing/2014/main" val="1073305008"/>
                    </a:ext>
                  </a:extLst>
                </a:gridCol>
                <a:gridCol w="845388">
                  <a:extLst>
                    <a:ext uri="{9D8B030D-6E8A-4147-A177-3AD203B41FA5}">
                      <a16:colId xmlns:a16="http://schemas.microsoft.com/office/drawing/2014/main" val="80715792"/>
                    </a:ext>
                  </a:extLst>
                </a:gridCol>
                <a:gridCol w="871268">
                  <a:extLst>
                    <a:ext uri="{9D8B030D-6E8A-4147-A177-3AD203B41FA5}">
                      <a16:colId xmlns:a16="http://schemas.microsoft.com/office/drawing/2014/main" val="569241779"/>
                    </a:ext>
                  </a:extLst>
                </a:gridCol>
                <a:gridCol w="793688">
                  <a:extLst>
                    <a:ext uri="{9D8B030D-6E8A-4147-A177-3AD203B41FA5}">
                      <a16:colId xmlns:a16="http://schemas.microsoft.com/office/drawing/2014/main" val="3575505770"/>
                    </a:ext>
                  </a:extLst>
                </a:gridCol>
              </a:tblGrid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235880"/>
                  </a:ext>
                </a:extLst>
              </a:tr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645718"/>
                  </a:ext>
                </a:extLst>
              </a:tr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367041"/>
                  </a:ext>
                </a:extLst>
              </a:tr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654274"/>
                  </a:ext>
                </a:extLst>
              </a:tr>
              <a:tr h="488228"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1" i="0" u="none" strike="noStrike" kern="1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300" b="1" i="0" u="none" strike="noStrike" kern="10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148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6390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3E77-96C8-445C-9425-4210F4FC5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AD527-6809-F470-EB10-C9364A48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kern="100"/>
              <a:t>Why one-hot encoding was abandoned?</a:t>
            </a:r>
            <a:endParaRPr lang="en-Z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B0C0EB-12E4-2553-4BCC-72C4C0EDA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8282D2-993A-A2A4-6898-62DCAB263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739559"/>
              </p:ext>
            </p:extLst>
          </p:nvPr>
        </p:nvGraphicFramePr>
        <p:xfrm>
          <a:off x="606552" y="1380744"/>
          <a:ext cx="10922508" cy="48096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7118">
                  <a:extLst>
                    <a:ext uri="{9D8B030D-6E8A-4147-A177-3AD203B41FA5}">
                      <a16:colId xmlns:a16="http://schemas.microsoft.com/office/drawing/2014/main" val="4060158181"/>
                    </a:ext>
                  </a:extLst>
                </a:gridCol>
                <a:gridCol w="4001950">
                  <a:extLst>
                    <a:ext uri="{9D8B030D-6E8A-4147-A177-3AD203B41FA5}">
                      <a16:colId xmlns:a16="http://schemas.microsoft.com/office/drawing/2014/main" val="4166356957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4044850106"/>
                    </a:ext>
                  </a:extLst>
                </a:gridCol>
              </a:tblGrid>
              <a:tr h="6880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Feature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Decimal Encoding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(A=1, C=2, G=3, T=4)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One-Hot Encoding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(e.g., A=1000, C=0100)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035053"/>
                  </a:ext>
                </a:extLst>
              </a:tr>
              <a:tr h="6880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Memory/Base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1 byte (torch.int8).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4 to 8 bytes (depending on storage).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617041"/>
                  </a:ext>
                </a:extLst>
              </a:tr>
              <a:tr h="6880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Matching Rule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master_base == pattern_base.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torch.dot(master_base, pattern_base) &gt; 0.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220862"/>
                  </a:ext>
                </a:extLst>
              </a:tr>
              <a:tr h="9914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Handling IUPAC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Must implement complex external mapping logic.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Natively supported. 'R' (A/G) is encoded as 1100, matching any base with 1 in the A or G channel.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517065"/>
                  </a:ext>
                </a:extLst>
              </a:tr>
              <a:tr h="6880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Bandwidth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Extremely Low (minimal data transfer needed).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High (requires transferring much larger tensors).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856386"/>
                  </a:ext>
                </a:extLst>
              </a:tr>
              <a:tr h="9914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Best For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Massive-scale, fixed-rule, simple fuzzy matching (our current script).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Complex, variable-rule, generic sequence alignment/scoring.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20" marR="10820" marT="10820" marB="10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321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753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691" y="126191"/>
            <a:ext cx="11045310" cy="727824"/>
          </a:xfrm>
        </p:spPr>
        <p:txBody>
          <a:bodyPr/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 dirty="0">
                <a:effectLst/>
              </a:rPr>
              <a:t>4. </a:t>
            </a:r>
            <a:r>
              <a:rPr lang="en-US" sz="4000" kern="100">
                <a:effectLst/>
              </a:rPr>
              <a:t>Real-time</a:t>
            </a:r>
            <a:r>
              <a:rPr lang="en-US" sz="4000" kern="100" dirty="0">
                <a:effectLst/>
              </a:rPr>
              <a:t> Vectorized Matching.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2234242"/>
            <a:ext cx="5580586" cy="1337094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CPU - GPU orchestration</a:t>
            </a:r>
          </a:p>
        </p:txBody>
      </p:sp>
    </p:spTree>
    <p:extLst>
      <p:ext uri="{BB962C8B-B14F-4D97-AF65-F5344CB8AC3E}">
        <p14:creationId xmlns:p14="http://schemas.microsoft.com/office/powerpoint/2010/main" val="753219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11507"/>
            <a:ext cx="8297380" cy="476006"/>
          </a:xfrm>
        </p:spPr>
        <p:txBody>
          <a:bodyPr>
            <a:noAutofit/>
          </a:bodyPr>
          <a:lstStyle/>
          <a:p>
            <a:r>
              <a:rPr lang="en-US"/>
              <a:t>Vectorized Matching: The GPU Kernel </a:t>
            </a:r>
            <a:endParaRPr lang="en-US" kern="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52F141-9632-AD83-727B-D710F44D3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441061"/>
              </p:ext>
            </p:extLst>
          </p:nvPr>
        </p:nvGraphicFramePr>
        <p:xfrm>
          <a:off x="558800" y="722258"/>
          <a:ext cx="10612120" cy="613574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328614">
                  <a:extLst>
                    <a:ext uri="{9D8B030D-6E8A-4147-A177-3AD203B41FA5}">
                      <a16:colId xmlns:a16="http://schemas.microsoft.com/office/drawing/2014/main" val="1813858832"/>
                    </a:ext>
                  </a:extLst>
                </a:gridCol>
                <a:gridCol w="8283506">
                  <a:extLst>
                    <a:ext uri="{9D8B030D-6E8A-4147-A177-3AD203B41FA5}">
                      <a16:colId xmlns:a16="http://schemas.microsoft.com/office/drawing/2014/main" val="2718709292"/>
                    </a:ext>
                  </a:extLst>
                </a:gridCol>
              </a:tblGrid>
              <a:tr h="66366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Goal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 an (1 x L) pattern against an (N x L) master chunk.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9936669"/>
                  </a:ext>
                </a:extLst>
              </a:tr>
              <a:tr h="8071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 1: The Mask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Identify Fixed Bases. fixed_base_mask = (pattern_tensor != BASE_TO_INT['.'])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88193"/>
                  </a:ext>
                </a:extLst>
              </a:tr>
              <a:tr h="8071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 2: Comparison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All Bases. match_comparison = (master_chunk == pattern_tensor)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4544049"/>
                  </a:ext>
                </a:extLst>
              </a:tr>
              <a:tr h="12859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 3: Apply Fuzzy Rule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torch.where Trick. positional_match = torch.where(fixed_base_mask, match_comparison, True)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548467"/>
                  </a:ext>
                </a:extLst>
              </a:tr>
              <a:tr h="12859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 4: Final Count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Sequence Reduction &amp; Summation. sequence_matches = positional_match.all(dim=1)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088287"/>
                  </a:ext>
                </a:extLst>
              </a:tr>
              <a:tr h="12859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Optimization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Clearing VRAM: Immediate cleanup using del pattern_tensor and torch.cuda.empty_cache() after each pattern is processed.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98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19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146" y="0"/>
            <a:ext cx="5641897" cy="3316893"/>
          </a:xfrm>
        </p:spPr>
        <p:txBody>
          <a:bodyPr/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 dirty="0">
                <a:effectLst/>
              </a:rPr>
              <a:t>5. Datasets and data processing.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/>
          <a:lstStyle/>
          <a:p>
            <a:r>
              <a:rPr lang="en-US" dirty="0"/>
              <a:t>All the oldies helped:</a:t>
            </a:r>
          </a:p>
          <a:p>
            <a:r>
              <a:rPr lang="en-US" dirty="0"/>
              <a:t>	-bash</a:t>
            </a:r>
          </a:p>
          <a:p>
            <a:r>
              <a:rPr lang="en-US" dirty="0"/>
              <a:t>	-grep</a:t>
            </a:r>
          </a:p>
          <a:p>
            <a:r>
              <a:rPr lang="en-US" dirty="0"/>
              <a:t>	-</a:t>
            </a:r>
            <a:r>
              <a:rPr lang="en-US" dirty="0" err="1"/>
              <a:t>wget</a:t>
            </a:r>
            <a:r>
              <a:rPr lang="en-US" dirty="0"/>
              <a:t>/curl</a:t>
            </a:r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04982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112" y="163100"/>
            <a:ext cx="8297380" cy="586232"/>
          </a:xfrm>
        </p:spPr>
        <p:txBody>
          <a:bodyPr>
            <a:normAutofit/>
          </a:bodyPr>
          <a:lstStyle/>
          <a:p>
            <a:r>
              <a:rPr lang="en-US"/>
              <a:t>Datasets: acquisition and munging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1B682-3287-8919-A514-454279F99257}"/>
              </a:ext>
            </a:extLst>
          </p:cNvPr>
          <p:cNvSpPr txBox="1"/>
          <p:nvPr/>
        </p:nvSpPr>
        <p:spPr>
          <a:xfrm>
            <a:off x="358815" y="749332"/>
            <a:ext cx="11169570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/>
              <a:t>Curated databases were pulled (</a:t>
            </a:r>
            <a:r>
              <a:rPr lang="en-US" sz="2800" b="1" err="1"/>
              <a:t>wget</a:t>
            </a:r>
            <a:r>
              <a:rPr lang="en-US" sz="2800" b="1"/>
              <a:t>/curl) from ARB/SILVA and NCBI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/>
              <a:t>Data was reduced to non redundant set (remove 100% identical sequences)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/>
              <a:t>Data was transformed into a one-off overlapping oligos of 18-24 base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/>
              <a:t>Data was processed in two steps: training and testing sessions.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/>
              <a:t>Results were compiled and assessed for accuracy (grep) and efficiency time on tack.</a:t>
            </a:r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970359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US" dirty="0"/>
              <a:t>6. Results</a:t>
            </a:r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/>
          <a:lstStyle/>
          <a:p>
            <a:r>
              <a:rPr lang="en-US" dirty="0"/>
              <a:t>Show me the </a:t>
            </a:r>
            <a:r>
              <a:rPr lang="en-US" strike="sngStrike" dirty="0"/>
              <a:t>money</a:t>
            </a:r>
            <a:r>
              <a:rPr lang="en-US" dirty="0"/>
              <a:t> fuzzy!</a:t>
            </a:r>
          </a:p>
        </p:txBody>
      </p:sp>
    </p:spTree>
    <p:extLst>
      <p:ext uri="{BB962C8B-B14F-4D97-AF65-F5344CB8AC3E}">
        <p14:creationId xmlns:p14="http://schemas.microsoft.com/office/powerpoint/2010/main" val="1618227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3" y="72518"/>
            <a:ext cx="11661057" cy="656687"/>
          </a:xfrm>
        </p:spPr>
        <p:txBody>
          <a:bodyPr>
            <a:normAutofit/>
          </a:bodyPr>
          <a:lstStyle/>
          <a:p>
            <a:r>
              <a:rPr lang="en-US"/>
              <a:t>Results: Benchmark 1 – Bacteria and Archaea (27732)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C83D63-F363-7F65-8460-9B3505D77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892566"/>
              </p:ext>
            </p:extLst>
          </p:nvPr>
        </p:nvGraphicFramePr>
        <p:xfrm>
          <a:off x="235974" y="729205"/>
          <a:ext cx="11661057" cy="5456558"/>
        </p:xfrm>
        <a:graphic>
          <a:graphicData uri="http://schemas.openxmlformats.org/drawingml/2006/table">
            <a:tbl>
              <a:tblPr/>
              <a:tblGrid>
                <a:gridCol w="3138597">
                  <a:extLst>
                    <a:ext uri="{9D8B030D-6E8A-4147-A177-3AD203B41FA5}">
                      <a16:colId xmlns:a16="http://schemas.microsoft.com/office/drawing/2014/main" val="1228256055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8883350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03741907"/>
                    </a:ext>
                  </a:extLst>
                </a:gridCol>
                <a:gridCol w="1128603">
                  <a:extLst>
                    <a:ext uri="{9D8B030D-6E8A-4147-A177-3AD203B41FA5}">
                      <a16:colId xmlns:a16="http://schemas.microsoft.com/office/drawing/2014/main" val="3771151472"/>
                    </a:ext>
                  </a:extLst>
                </a:gridCol>
                <a:gridCol w="1297857">
                  <a:extLst>
                    <a:ext uri="{9D8B030D-6E8A-4147-A177-3AD203B41FA5}">
                      <a16:colId xmlns:a16="http://schemas.microsoft.com/office/drawing/2014/main" val="166154143"/>
                    </a:ext>
                  </a:extLst>
                </a:gridCol>
              </a:tblGrid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Query ID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Degenerate Pattern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Ambiguous Positions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Match 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 Match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82052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&gt;NR_118751.1_514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TG.CAGC.GCCGCGGT.A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3#8#17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27281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98.37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78222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&gt;NR_118751.1_1059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CGTCAGCTCGT...GTGA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12#13#14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26913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07125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&gt;NR_118751.1_1386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TTG.AC.CAC.GCCCGTC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4#7#11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26222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94.56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63312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&gt;NR_118751.1_338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TCCT.CGGGAG..AGCAG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5#12#13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25779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92.96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7107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&gt;NR_118751.1_1172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AGGAAGG.G.GGA.GACG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8#10#14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25597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92.30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175556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&gt;NR_118751.1_918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GACGGGG..C.GCACAAG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8#9#11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25479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91.88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186557"/>
                  </a:ext>
                </a:extLst>
              </a:tr>
              <a:tr h="679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&gt;NR_118751.1_881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GGG.AGTACG..CGCAAG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4#11#12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25326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91.32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584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414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E18F5-AC17-B4A4-198B-3FAB57EAA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FEFE-38A9-ABB3-F887-E613F225E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3" y="72518"/>
            <a:ext cx="11661057" cy="656687"/>
          </a:xfrm>
        </p:spPr>
        <p:txBody>
          <a:bodyPr>
            <a:normAutofit/>
          </a:bodyPr>
          <a:lstStyle/>
          <a:p>
            <a:r>
              <a:rPr lang="en-US"/>
              <a:t>Results: Benchmark 2 – Fungi 18S (3996 sequences)</a:t>
            </a:r>
            <a:endParaRPr lang="en-Z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CDE073-0B1C-6EC2-FFF3-5D730465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2658CB-A36C-07B7-F620-F632EB3B5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026472"/>
              </p:ext>
            </p:extLst>
          </p:nvPr>
        </p:nvGraphicFramePr>
        <p:xfrm>
          <a:off x="215660" y="729205"/>
          <a:ext cx="11681371" cy="5456558"/>
        </p:xfrm>
        <a:graphic>
          <a:graphicData uri="http://schemas.openxmlformats.org/drawingml/2006/table">
            <a:tbl>
              <a:tblPr/>
              <a:tblGrid>
                <a:gridCol w="3158911">
                  <a:extLst>
                    <a:ext uri="{9D8B030D-6E8A-4147-A177-3AD203B41FA5}">
                      <a16:colId xmlns:a16="http://schemas.microsoft.com/office/drawing/2014/main" val="1228256055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8883350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03741907"/>
                    </a:ext>
                  </a:extLst>
                </a:gridCol>
                <a:gridCol w="1128603">
                  <a:extLst>
                    <a:ext uri="{9D8B030D-6E8A-4147-A177-3AD203B41FA5}">
                      <a16:colId xmlns:a16="http://schemas.microsoft.com/office/drawing/2014/main" val="3771151472"/>
                    </a:ext>
                  </a:extLst>
                </a:gridCol>
                <a:gridCol w="1297857">
                  <a:extLst>
                    <a:ext uri="{9D8B030D-6E8A-4147-A177-3AD203B41FA5}">
                      <a16:colId xmlns:a16="http://schemas.microsoft.com/office/drawing/2014/main" val="166154143"/>
                    </a:ext>
                  </a:extLst>
                </a:gridCol>
              </a:tblGrid>
              <a:tr h="6526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Query ID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Degenerate Pattern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Ambiguous Positions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Match 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 Match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82052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NG_062708.1_1288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T.AG.TACCGT.GTAGTC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2-5-12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3615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97.91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78222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NG_062708.1_862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GTAATTCCAGCTC.A..A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14-16-17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3614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97.89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07125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NG_062708.1_470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A...GAGGGCAAGTCTGG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2-3-04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3610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97.78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633120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NG_062708.1_348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GCAGCAGGC.CG.AA.TT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10-13-16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3588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97.18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7107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NG_062708.1_1084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AGC.TGGAATAAT..AAT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4-14-15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3555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96.29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175556"/>
                  </a:ext>
                </a:extLst>
              </a:tr>
              <a:tr h="6526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NG_062708.1_468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C.A..GGAGGGCAAGTCT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2-4-05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3554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96.26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FD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186557"/>
                  </a:ext>
                </a:extLst>
              </a:tr>
              <a:tr h="6798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NG_062708.1_476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GGGCAAGTCTGGTG...G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15-16-17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3515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95.21</a:t>
                      </a:r>
                    </a:p>
                  </a:txBody>
                  <a:tcPr marL="68580" marR="6858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584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011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US" dirty="0"/>
              <a:t>7. discussion</a:t>
            </a:r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27611" y="4063040"/>
            <a:ext cx="5580586" cy="1883763"/>
          </a:xfrm>
        </p:spPr>
        <p:txBody>
          <a:bodyPr/>
          <a:lstStyle/>
          <a:p>
            <a:r>
              <a:rPr lang="en-US" dirty="0"/>
              <a:t>Tell me I matter.</a:t>
            </a:r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86D75-B31B-995C-1F7B-128EBF5CF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17AA1-B5B7-63C3-E374-6422FE4B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656687"/>
          </a:xfrm>
        </p:spPr>
        <p:txBody>
          <a:bodyPr/>
          <a:lstStyle/>
          <a:p>
            <a:r>
              <a:rPr lang="en-US"/>
              <a:t>Effective use of resources</a:t>
            </a:r>
            <a:endParaRPr lang="en-Z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42457D-463A-8011-9F75-4A1F3EEA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68B7857-360D-FE6F-F084-F67A637435E6}"/>
              </a:ext>
            </a:extLst>
          </p:cNvPr>
          <p:cNvSpPr txBox="1">
            <a:spLocks/>
          </p:cNvSpPr>
          <p:nvPr/>
        </p:nvSpPr>
        <p:spPr>
          <a:xfrm>
            <a:off x="1046163" y="865239"/>
            <a:ext cx="10791876" cy="59202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500" b="1"/>
              <a:t>One Hot encoding scripts takes too long to finish the task before overflowing available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500" b="1"/>
              <a:t>Decimal encoded script finished task within minutes to hours – based on input size.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500" b="1"/>
              <a:t>The script is flexible: the position and number of allowed ambiguous positions can be changed to fit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500" b="1"/>
              <a:t>The script is adoptable: the flexibility outlined above makes it target agnostic - beyond primer design oligos can be diagnostic of function or other biological targets.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B519525-5E0C-9714-F28A-18D61C3FDA97}"/>
              </a:ext>
            </a:extLst>
          </p:cNvPr>
          <p:cNvSpPr txBox="1">
            <a:spLocks/>
          </p:cNvSpPr>
          <p:nvPr/>
        </p:nvSpPr>
        <p:spPr>
          <a:xfrm>
            <a:off x="1217136" y="4921607"/>
            <a:ext cx="10117137" cy="947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94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0303" y="441960"/>
            <a:ext cx="6087594" cy="3316893"/>
          </a:xfrm>
        </p:spPr>
        <p:txBody>
          <a:bodyPr>
            <a:normAutofit fontScale="90000"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 dirty="0">
                <a:effectLst/>
              </a:rPr>
              <a:t>8. Future Directions: </a:t>
            </a:r>
            <a:br>
              <a:rPr lang="en-US" sz="4000" kern="100" dirty="0">
                <a:effectLst/>
              </a:rPr>
            </a:br>
            <a:r>
              <a:rPr lang="en-US" sz="4000" kern="100" dirty="0">
                <a:effectLst/>
              </a:rPr>
              <a:t>Cancer Gene oligo Signature Screening.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459856"/>
            <a:ext cx="5580586" cy="1806125"/>
          </a:xfrm>
        </p:spPr>
        <p:txBody>
          <a:bodyPr/>
          <a:lstStyle/>
          <a:p>
            <a:r>
              <a:rPr lang="en-US" dirty="0"/>
              <a:t>Where oligos matter count me in.</a:t>
            </a:r>
          </a:p>
        </p:txBody>
      </p:sp>
    </p:spTree>
    <p:extLst>
      <p:ext uri="{BB962C8B-B14F-4D97-AF65-F5344CB8AC3E}">
        <p14:creationId xmlns:p14="http://schemas.microsoft.com/office/powerpoint/2010/main" val="3064836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BD80E-B789-BC63-6842-103E03110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6E11-87ED-931F-445A-75AB97385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103"/>
            <a:ext cx="9919996" cy="1542350"/>
          </a:xfrm>
        </p:spPr>
        <p:txBody>
          <a:bodyPr>
            <a:normAutofit fontScale="90000"/>
          </a:bodyPr>
          <a:lstStyle/>
          <a:p>
            <a:r>
              <a:rPr lang="en-US" kern="100"/>
              <a:t>8. Future Directions</a:t>
            </a:r>
            <a:br>
              <a:rPr lang="en-US" kern="100"/>
            </a:br>
            <a:br>
              <a:rPr lang="en-US" kern="100"/>
            </a:br>
            <a:r>
              <a:rPr lang="en-US"/>
              <a:t>Adopting the Script for Medical Oligo Screening:</a:t>
            </a:r>
            <a:br>
              <a:rPr lang="en-US"/>
            </a:b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52B74C-4D57-0F4A-FDC4-B6F373B3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7EFC1F-DD2E-6865-3DF5-EE0BC9257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790749"/>
              </p:ext>
            </p:extLst>
          </p:nvPr>
        </p:nvGraphicFramePr>
        <p:xfrm>
          <a:off x="911352" y="1803558"/>
          <a:ext cx="10515600" cy="467807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289048">
                  <a:extLst>
                    <a:ext uri="{9D8B030D-6E8A-4147-A177-3AD203B41FA5}">
                      <a16:colId xmlns:a16="http://schemas.microsoft.com/office/drawing/2014/main" val="1349087743"/>
                    </a:ext>
                  </a:extLst>
                </a:gridCol>
                <a:gridCol w="8226552">
                  <a:extLst>
                    <a:ext uri="{9D8B030D-6E8A-4147-A177-3AD203B41FA5}">
                      <a16:colId xmlns:a16="http://schemas.microsoft.com/office/drawing/2014/main" val="3330640691"/>
                    </a:ext>
                  </a:extLst>
                </a:gridCol>
              </a:tblGrid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Use Case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Minimal Residual Disease (MRD) Screening in Cancer.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2896"/>
                  </a:ext>
                </a:extLst>
              </a:tr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Oligo Role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Designing Target-Specific Probes.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0203595"/>
                  </a:ext>
                </a:extLst>
              </a:tr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The Adaption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High-Specificity Off-Target Check.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680616"/>
                  </a:ext>
                </a:extLst>
              </a:tr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Fuzzy Need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Accounting for Polymorphisms.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248423"/>
                  </a:ext>
                </a:extLst>
              </a:tr>
              <a:tr h="8645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Impact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</a:rPr>
                        <a:t>Accelerated Diagnostic Development.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1898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13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436" y="152400"/>
            <a:ext cx="10405174" cy="647192"/>
          </a:xfrm>
        </p:spPr>
        <p:txBody>
          <a:bodyPr anchor="b">
            <a:normAutofit/>
          </a:bodyPr>
          <a:lstStyle/>
          <a:p>
            <a:r>
              <a:rPr lang="en-US"/>
              <a:t>Summary</a:t>
            </a:r>
            <a:r>
              <a:rPr lang="en-US" dirty="0"/>
              <a:t> &amp; takeaways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288E2A9-7EE8-25F5-5AE1-CC50111DA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079090"/>
              </p:ext>
            </p:extLst>
          </p:nvPr>
        </p:nvGraphicFramePr>
        <p:xfrm>
          <a:off x="567436" y="799592"/>
          <a:ext cx="11057128" cy="5576512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967067">
                  <a:extLst>
                    <a:ext uri="{9D8B030D-6E8A-4147-A177-3AD203B41FA5}">
                      <a16:colId xmlns:a16="http://schemas.microsoft.com/office/drawing/2014/main" val="3178276104"/>
                    </a:ext>
                  </a:extLst>
                </a:gridCol>
                <a:gridCol w="9090061">
                  <a:extLst>
                    <a:ext uri="{9D8B030D-6E8A-4147-A177-3AD203B41FA5}">
                      <a16:colId xmlns:a16="http://schemas.microsoft.com/office/drawing/2014/main" val="2833431781"/>
                    </a:ext>
                  </a:extLst>
                </a:gridCol>
              </a:tblGrid>
              <a:tr h="6534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>
                          <a:effectLst/>
                        </a:rPr>
                        <a:t>Summary</a:t>
                      </a:r>
                      <a:endParaRPr lang="en-US" sz="2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>
                          <a:effectLst/>
                        </a:rPr>
                        <a:t>Data Parallelism is key: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>
                          <a:effectLst/>
                        </a:rPr>
                        <a:t>CPU for logic, GPU for arithmetic.</a:t>
                      </a:r>
                      <a:endParaRPr lang="en-US" sz="2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030948"/>
                  </a:ext>
                </a:extLst>
              </a:tr>
              <a:tr h="16847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>
                          <a:effectLst/>
                        </a:rPr>
                        <a:t>Takeaway 1</a:t>
                      </a:r>
                      <a:endParaRPr lang="en-US" sz="2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>
                          <a:effectLst/>
                        </a:rPr>
                        <a:t>torch.int8 (Decimal Encoding) is the optimal choice for high-scale, memory-constrained sequence work, offering ~4X memory savings.</a:t>
                      </a:r>
                      <a:endParaRPr lang="en-US" sz="2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192786"/>
                  </a:ext>
                </a:extLst>
              </a:tr>
              <a:tr h="11690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>
                          <a:effectLst/>
                        </a:rPr>
                        <a:t>Takeaway 2</a:t>
                      </a:r>
                      <a:endParaRPr lang="en-US" sz="2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>
                          <a:effectLst/>
                        </a:rPr>
                        <a:t>Vectorization with </a:t>
                      </a:r>
                      <a:r>
                        <a:rPr lang="en-US" sz="2800" b="1" kern="100">
                          <a:solidFill>
                            <a:srgbClr val="C00000"/>
                          </a:solidFill>
                          <a:effectLst/>
                        </a:rPr>
                        <a:t>torch.where</a:t>
                      </a:r>
                      <a:r>
                        <a:rPr lang="en-US" sz="2800" b="1" kern="100">
                          <a:effectLst/>
                        </a:rPr>
                        <a:t> implements the fuzzy match logic in one highly parallelized GPU instruction.</a:t>
                      </a:r>
                      <a:endParaRPr lang="en-US" sz="2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32333"/>
                  </a:ext>
                </a:extLst>
              </a:tr>
              <a:tr h="16847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>
                          <a:effectLst/>
                        </a:rPr>
                        <a:t>Takeaway 3</a:t>
                      </a:r>
                      <a:endParaRPr lang="en-US" sz="2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>
                          <a:effectLst/>
                        </a:rPr>
                        <a:t>This approach is directly applicable to clinical genomics, specifically in rapidly validating highly-specific oligo probes for MRD and gene signature screening.</a:t>
                      </a:r>
                      <a:endParaRPr lang="en-US" sz="2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627" marR="20627" marT="20627" marB="20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597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/>
          <a:lstStyle/>
          <a:p>
            <a:r>
              <a:rPr lang="en-US"/>
              <a:t>9. Acknowledgements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20DBB-F3DD-CE0A-DCE1-63F191C0CC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0423" y="1644111"/>
            <a:ext cx="10210800" cy="908167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0000"/>
                </a:solidFill>
              </a:rPr>
              <a:t>NAIRR/JS2 Office Hours Panel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028" name="Picture 4" descr="Workflows and AI session using Pegasus ...">
            <a:extLst>
              <a:ext uri="{FF2B5EF4-FFF2-40B4-BE49-F238E27FC236}">
                <a16:creationId xmlns:a16="http://schemas.microsoft.com/office/drawing/2014/main" id="{49CB4CC9-A4AA-E966-A1D5-7B18ACB9B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3" y="2730663"/>
            <a:ext cx="7934656" cy="1641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C3160B-9A98-6A32-C9B8-B074CABFD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721" y="4488453"/>
            <a:ext cx="6839905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 dirty="0"/>
              <a:t>No questions?</a:t>
            </a:r>
            <a:br>
              <a:rPr lang="en-US" dirty="0"/>
            </a:br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07572" y="4735903"/>
            <a:ext cx="4031583" cy="1453179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Amasis MT Pro Black" panose="020F0502020204030204" pitchFamily="18" charset="0"/>
              </a:rPr>
              <a:t>Feseha Abebe-Akele</a:t>
            </a:r>
          </a:p>
          <a:p>
            <a:r>
              <a:rPr lang="en-US" sz="2400" b="1" dirty="0">
                <a:solidFill>
                  <a:srgbClr val="7030A0"/>
                </a:solidFill>
                <a:latin typeface="Amasis MT Pro Black" panose="020F0502020204030204" pitchFamily="18" charset="0"/>
              </a:rPr>
              <a:t>252-335-3975</a:t>
            </a:r>
          </a:p>
          <a:p>
            <a:r>
              <a:rPr lang="en-US" sz="2400" b="1" dirty="0">
                <a:solidFill>
                  <a:srgbClr val="7030A0"/>
                </a:solidFill>
                <a:latin typeface="Amasis MT Pro Black" panose="020F0502020204030204" pitchFamily="18" charset="0"/>
              </a:rPr>
              <a:t>fabebeakele@eceu.edu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5040CA-20CC-43C6-BC0C-8D8696B6AF89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{A58507BB-931D-4CD6-B8C9-E3A73AA38953}TFb05bf529-a1dc-42d5-b9d6-8a1e9569dd9caf6e7d0f_win32-c3c9796a48f5</Template>
  <TotalTime>15957</TotalTime>
  <Words>1721</Words>
  <Application>Microsoft Office PowerPoint</Application>
  <PresentationFormat>Widescreen</PresentationFormat>
  <Paragraphs>369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Abadi ExtraLight</vt:lpstr>
      <vt:lpstr>Amasis MT Pro Black</vt:lpstr>
      <vt:lpstr>Aptos</vt:lpstr>
      <vt:lpstr>Aptos Narrow</vt:lpstr>
      <vt:lpstr>Arial</vt:lpstr>
      <vt:lpstr>Avenir Next LT Pro Light</vt:lpstr>
      <vt:lpstr>Calibri</vt:lpstr>
      <vt:lpstr>Posterama</vt:lpstr>
      <vt:lpstr>Custom</vt:lpstr>
      <vt:lpstr>AI assisted fuzzy primer Design:  Leveraging GPUs and PyTorch for  Fuzzy Sequence Matching.</vt:lpstr>
      <vt:lpstr>Agenda </vt:lpstr>
      <vt:lpstr>The Oligo Screening Problem. </vt:lpstr>
      <vt:lpstr>Why look for fuzzy oligos</vt:lpstr>
      <vt:lpstr>2. HPC Architecture &amp; Parallelisation. </vt:lpstr>
      <vt:lpstr>HPC Architecture &amp; Parallelization</vt:lpstr>
      <vt:lpstr>HPC Architecture &amp; Parallelization</vt:lpstr>
      <vt:lpstr>HPC Architecture &amp; Parallelization</vt:lpstr>
      <vt:lpstr>3. Deep Dive:  Encoding Strategies (Decimal vs. One-Hot). </vt:lpstr>
      <vt:lpstr>The three faces of DNA encoding:</vt:lpstr>
      <vt:lpstr>Why choose decimal encoding?</vt:lpstr>
      <vt:lpstr>Why choose decimal encoding?</vt:lpstr>
      <vt:lpstr>Why choose decimal encoding?</vt:lpstr>
      <vt:lpstr>Why one-hot encoding was abandoned?</vt:lpstr>
      <vt:lpstr>Why one-hot encoding was abandoned?</vt:lpstr>
      <vt:lpstr>4. Real-time Vectorized Matching. </vt:lpstr>
      <vt:lpstr>Vectorized Matching: The GPU Kernel </vt:lpstr>
      <vt:lpstr>5. Datasets and data processing.</vt:lpstr>
      <vt:lpstr>Datasets: acquisition and munging</vt:lpstr>
      <vt:lpstr>6. Results</vt:lpstr>
      <vt:lpstr>Results: Benchmark 1 – Bacteria and Archaea (27732)</vt:lpstr>
      <vt:lpstr>Results: Benchmark 2 – Fungi 18S (3996 sequences)</vt:lpstr>
      <vt:lpstr>7. discussion</vt:lpstr>
      <vt:lpstr>Effective use of resources</vt:lpstr>
      <vt:lpstr>8. Future Directions:  Cancer Gene oligo Signature Screening.</vt:lpstr>
      <vt:lpstr>8. Future Directions  Adopting the Script for Medical Oligo Screening: </vt:lpstr>
      <vt:lpstr>Summary &amp; takeaways</vt:lpstr>
      <vt:lpstr>9. Acknowledgements</vt:lpstr>
      <vt:lpstr>No questions?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Feseha Abebe-Akele</dc:creator>
  <cp:lastModifiedBy>Feseha Abebe-Akele</cp:lastModifiedBy>
  <cp:revision>3</cp:revision>
  <dcterms:created xsi:type="dcterms:W3CDTF">2025-10-25T16:25:58Z</dcterms:created>
  <dcterms:modified xsi:type="dcterms:W3CDTF">2025-11-05T18:23:52Z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